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9"/>
  </p:notesMasterIdLst>
  <p:sldIdLst>
    <p:sldId id="256" r:id="rId2"/>
    <p:sldId id="258" r:id="rId3"/>
    <p:sldId id="262" r:id="rId4"/>
    <p:sldId id="263" r:id="rId5"/>
    <p:sldId id="264" r:id="rId6"/>
    <p:sldId id="265" r:id="rId7"/>
    <p:sldId id="266"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7" autoAdjust="0"/>
    <p:restoredTop sz="87824" autoAdjust="0"/>
  </p:normalViewPr>
  <p:slideViewPr>
    <p:cSldViewPr snapToGrid="0">
      <p:cViewPr varScale="1">
        <p:scale>
          <a:sx n="72" d="100"/>
          <a:sy n="72" d="100"/>
        </p:scale>
        <p:origin x="1109"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7827F0-7C17-443D-8666-A4529C210E5F}" type="datetimeFigureOut">
              <a:rPr lang="en-US" smtClean="0"/>
              <a:t>5/21/2026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9D3D77-4AE1-4A9F-B764-8C1063FEDE9D}" type="slidenum">
              <a:rPr lang="en-US" smtClean="0"/>
              <a:t>‹#›</a:t>
            </a:fld>
            <a:endParaRPr lang="en-US"/>
          </a:p>
        </p:txBody>
      </p:sp>
    </p:spTree>
    <p:extLst>
      <p:ext uri="{BB962C8B-B14F-4D97-AF65-F5344CB8AC3E}">
        <p14:creationId xmlns:p14="http://schemas.microsoft.com/office/powerpoint/2010/main" val="37550382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 computer can simulate fluid passing around an obstacle inside a box (the cavity), it needs to know the laws of physics.</a:t>
            </a:r>
          </a:p>
          <a:p>
            <a:endParaRPr lang="en-US" dirty="0"/>
          </a:p>
          <a:p>
            <a:r>
              <a:rPr lang="en-US" dirty="0">
                <a:effectLst/>
                <a:latin typeface="Google Sans Text"/>
              </a:rPr>
              <a:t>Subtask 1.1 represents the </a:t>
            </a:r>
            <a:r>
              <a:rPr lang="en-US" b="1" dirty="0">
                <a:effectLst/>
                <a:latin typeface="Google Sans Text"/>
              </a:rPr>
              <a:t>Mathematical Formulation</a:t>
            </a:r>
            <a:r>
              <a:rPr lang="en-US" dirty="0">
                <a:effectLst/>
                <a:latin typeface="Google Sans Text"/>
              </a:rPr>
              <a:t>. In computational fluid dynamics (CFD), fluid flow is governed by the </a:t>
            </a:r>
            <a:r>
              <a:rPr lang="en-US" b="1" dirty="0">
                <a:effectLst/>
                <a:latin typeface="Google Sans Text"/>
              </a:rPr>
              <a:t>Navier-Stokes equations</a:t>
            </a:r>
            <a:r>
              <a:rPr lang="en-US" dirty="0">
                <a:effectLst/>
                <a:latin typeface="Google Sans Text"/>
              </a:rPr>
              <a:t> (which are basically Newton's $F=ma$ applied to liquids). To turn these complex calculus equations into something a standard computer loop can understand, they are mathematically rearranged into the </a:t>
            </a:r>
            <a:r>
              <a:rPr lang="en-US" b="1" dirty="0" err="1">
                <a:effectLst/>
                <a:latin typeface="Google Sans Text"/>
              </a:rPr>
              <a:t>Streamfunction</a:t>
            </a:r>
            <a:r>
              <a:rPr lang="en-US" b="1" dirty="0">
                <a:effectLst/>
                <a:latin typeface="Google Sans Text"/>
              </a:rPr>
              <a:t>-Vorticity ($\psi$-$\omega$) formulation</a:t>
            </a:r>
            <a:r>
              <a:rPr lang="en-US" dirty="0">
                <a:effectLst/>
                <a:latin typeface="Google Sans Text"/>
              </a:rPr>
              <a:t>.</a:t>
            </a:r>
          </a:p>
          <a:p>
            <a:pPr>
              <a:buFont typeface="Arial" panose="020B0604020202020204" pitchFamily="34" charset="0"/>
              <a:buChar char="•"/>
            </a:pPr>
            <a:r>
              <a:rPr lang="en-US" b="1" dirty="0">
                <a:effectLst/>
                <a:latin typeface="Google Sans Text"/>
              </a:rPr>
              <a:t>Vorticity ($\omega$):</a:t>
            </a:r>
            <a:r>
              <a:rPr lang="en-US" dirty="0">
                <a:effectLst/>
                <a:latin typeface="Google Sans Text"/>
              </a:rPr>
              <a:t> Measures how much the fluid is spinning or swirling (especially around the corners of your obstacle).</a:t>
            </a:r>
          </a:p>
          <a:p>
            <a:pPr>
              <a:buFont typeface="Arial" panose="020B0604020202020204" pitchFamily="34" charset="0"/>
              <a:buChar char="•"/>
            </a:pPr>
            <a:r>
              <a:rPr lang="en-US" b="1" dirty="0" err="1">
                <a:effectLst/>
                <a:latin typeface="Google Sans Text"/>
              </a:rPr>
              <a:t>Streamfunction</a:t>
            </a:r>
            <a:r>
              <a:rPr lang="en-US" b="1" dirty="0">
                <a:effectLst/>
                <a:latin typeface="Google Sans Text"/>
              </a:rPr>
              <a:t> ($\psi$):</a:t>
            </a:r>
            <a:r>
              <a:rPr lang="en-US" dirty="0">
                <a:effectLst/>
                <a:latin typeface="Google Sans Text"/>
              </a:rPr>
              <a:t> Helps track the actual path lines that particles in the fluid follow.</a:t>
            </a:r>
          </a:p>
          <a:p>
            <a:endParaRPr lang="en-US" dirty="0"/>
          </a:p>
          <a:p>
            <a:r>
              <a:rPr lang="en-US" dirty="0">
                <a:effectLst/>
                <a:latin typeface="Google Sans Text"/>
              </a:rPr>
              <a:t>Computers cannot solve fluid dynamics equations continuously. They require space to be broken down into a discrete grid of data points.</a:t>
            </a:r>
          </a:p>
          <a:p>
            <a:r>
              <a:rPr lang="en-US" dirty="0">
                <a:effectLst/>
                <a:latin typeface="Google Sans Text"/>
              </a:rPr>
              <a:t>In Subtask 1.2, we specify the real-world sizing parameters and construct the mathematical coordinate mesh matrix ($</a:t>
            </a:r>
            <a:r>
              <a:rPr lang="en-US" dirty="0" err="1">
                <a:effectLst/>
                <a:latin typeface="Google Sans Text"/>
              </a:rPr>
              <a:t>N_x</a:t>
            </a:r>
            <a:r>
              <a:rPr lang="en-US" dirty="0">
                <a:effectLst/>
                <a:latin typeface="Google Sans Text"/>
              </a:rPr>
              <a:t> \times </a:t>
            </a:r>
            <a:r>
              <a:rPr lang="en-US" dirty="0" err="1">
                <a:effectLst/>
                <a:latin typeface="Google Sans Text"/>
              </a:rPr>
              <a:t>N_y</a:t>
            </a:r>
            <a:r>
              <a:rPr lang="en-US" dirty="0">
                <a:effectLst/>
                <a:latin typeface="Google Sans Text"/>
              </a:rPr>
              <a:t>$). Think of it as creating a digital graph-paper layout inside the box so the program knows exactly where the fluid particles are located at any given index point.</a:t>
            </a:r>
          </a:p>
          <a:p>
            <a:endParaRPr lang="en-US" dirty="0"/>
          </a:p>
        </p:txBody>
      </p:sp>
      <p:sp>
        <p:nvSpPr>
          <p:cNvPr id="4" name="Slide Number Placeholder 3"/>
          <p:cNvSpPr>
            <a:spLocks noGrp="1"/>
          </p:cNvSpPr>
          <p:nvPr>
            <p:ph type="sldNum" sz="quarter" idx="5"/>
          </p:nvPr>
        </p:nvSpPr>
        <p:spPr/>
        <p:txBody>
          <a:bodyPr/>
          <a:lstStyle/>
          <a:p>
            <a:fld id="{029D3D77-4AE1-4A9F-B764-8C1063FEDE9D}" type="slidenum">
              <a:rPr lang="en-US" smtClean="0"/>
              <a:t>2</a:t>
            </a:fld>
            <a:endParaRPr lang="en-US"/>
          </a:p>
        </p:txBody>
      </p:sp>
    </p:spTree>
    <p:extLst>
      <p:ext uri="{BB962C8B-B14F-4D97-AF65-F5344CB8AC3E}">
        <p14:creationId xmlns:p14="http://schemas.microsoft.com/office/powerpoint/2010/main" val="20882996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fluid to swirl inside a box, something needs to drive it. In this system, the side walls and the bottom floor are completely static (zero velocity, also known as the </a:t>
            </a:r>
            <a:r>
              <a:rPr lang="en-US" b="1" dirty="0"/>
              <a:t>No-Slip boundary condition</a:t>
            </a:r>
            <a:r>
              <a:rPr lang="en-US" dirty="0"/>
              <a:t>). The top lid, however, is constantly sliding to the right at a constant forward velocity (HORIZONTAL_VELOCITY_TOP = 1.0).</a:t>
            </a:r>
          </a:p>
          <a:p>
            <a:r>
              <a:rPr lang="en-US" dirty="0"/>
              <a:t>Subtask 2.1 represents the code lines that explicitly pin these dynamic velocity limits on the matrix edge boundaries at every calculation tick.</a:t>
            </a:r>
          </a:p>
          <a:p>
            <a:endParaRPr lang="en-US" dirty="0"/>
          </a:p>
          <a:p>
            <a:r>
              <a:rPr lang="en-US" dirty="0"/>
              <a:t>To introduce an obstacle inside the walls of the cavity, the code must track exactly which positions in space are fluid (where water can flow) and which are solid block (the wall).</a:t>
            </a:r>
          </a:p>
          <a:p>
            <a:r>
              <a:rPr lang="en-US" dirty="0"/>
              <a:t>To do this, the script creates a dedicated 2D tracking grid (solid) filled entirely with true/false Boolean conditions. Then, it calculates the raw coordinate conversions to find the exact box space matching your design parameters and overwrites those matching block dimensions to True.</a:t>
            </a:r>
          </a:p>
          <a:p>
            <a:endParaRPr lang="en-US" dirty="0"/>
          </a:p>
        </p:txBody>
      </p:sp>
      <p:sp>
        <p:nvSpPr>
          <p:cNvPr id="4" name="Slide Number Placeholder 3"/>
          <p:cNvSpPr>
            <a:spLocks noGrp="1"/>
          </p:cNvSpPr>
          <p:nvPr>
            <p:ph type="sldNum" sz="quarter" idx="5"/>
          </p:nvPr>
        </p:nvSpPr>
        <p:spPr/>
        <p:txBody>
          <a:bodyPr/>
          <a:lstStyle/>
          <a:p>
            <a:fld id="{029D3D77-4AE1-4A9F-B764-8C1063FEDE9D}" type="slidenum">
              <a:rPr lang="en-US" smtClean="0"/>
              <a:t>3</a:t>
            </a:fld>
            <a:endParaRPr lang="en-US"/>
          </a:p>
        </p:txBody>
      </p:sp>
    </p:spTree>
    <p:extLst>
      <p:ext uri="{BB962C8B-B14F-4D97-AF65-F5344CB8AC3E}">
        <p14:creationId xmlns:p14="http://schemas.microsoft.com/office/powerpoint/2010/main" val="42894720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though Subtask 2.2 created the </a:t>
            </a:r>
            <a:r>
              <a:rPr lang="en-US" dirty="0" err="1"/>
              <a:t>boolean</a:t>
            </a:r>
            <a:r>
              <a:rPr lang="en-US" dirty="0"/>
              <a:t> mask map (solid), the math solver doesn't inherently know that "True" means a solid block—it will still try to calculate fluid passing right through those array coordinates.</a:t>
            </a:r>
          </a:p>
          <a:p>
            <a:r>
              <a:rPr lang="en-US" dirty="0"/>
              <a:t>Subtask 2.3 is where you enforce the </a:t>
            </a:r>
            <a:r>
              <a:rPr lang="en-US" b="1" dirty="0"/>
              <a:t>No-Slip and Impenetrability boundary conditions</a:t>
            </a:r>
            <a:r>
              <a:rPr lang="en-US" dirty="0"/>
              <a:t> specifically for that internal obstacle. It forces the horizontal velocity (u) and vertical velocity (v) at every coordinate marked as solid to instantly overwrite to 0.0. This forces the fluid to bend, split, and flow </a:t>
            </a:r>
            <a:r>
              <a:rPr lang="en-US" i="1" dirty="0"/>
              <a:t>around</a:t>
            </a:r>
            <a:r>
              <a:rPr lang="en-US" dirty="0"/>
              <a:t> the object instead of cutting through it.</a:t>
            </a:r>
          </a:p>
          <a:p>
            <a:endParaRPr lang="en-US" dirty="0"/>
          </a:p>
        </p:txBody>
      </p:sp>
      <p:sp>
        <p:nvSpPr>
          <p:cNvPr id="4" name="Slide Number Placeholder 3"/>
          <p:cNvSpPr>
            <a:spLocks noGrp="1"/>
          </p:cNvSpPr>
          <p:nvPr>
            <p:ph type="sldNum" sz="quarter" idx="5"/>
          </p:nvPr>
        </p:nvSpPr>
        <p:spPr/>
        <p:txBody>
          <a:bodyPr/>
          <a:lstStyle/>
          <a:p>
            <a:fld id="{029D3D77-4AE1-4A9F-B764-8C1063FEDE9D}" type="slidenum">
              <a:rPr lang="en-US" smtClean="0"/>
              <a:t>4</a:t>
            </a:fld>
            <a:endParaRPr lang="en-US"/>
          </a:p>
        </p:txBody>
      </p:sp>
    </p:spTree>
    <p:extLst>
      <p:ext uri="{BB962C8B-B14F-4D97-AF65-F5344CB8AC3E}">
        <p14:creationId xmlns:p14="http://schemas.microsoft.com/office/powerpoint/2010/main" val="2605389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latin typeface="Google Sans Text"/>
              </a:rPr>
              <a:t>In a </a:t>
            </a:r>
            <a:r>
              <a:rPr lang="en-US" dirty="0" err="1">
                <a:effectLst/>
                <a:latin typeface="Google Sans Text"/>
              </a:rPr>
              <a:t>Streamfunction</a:t>
            </a:r>
            <a:r>
              <a:rPr lang="en-US" dirty="0">
                <a:effectLst/>
                <a:latin typeface="Google Sans Text"/>
              </a:rPr>
              <a:t>-Vorticity fluid scheme, fluid flow changes over time because of two physical forces acting on the vorticity ($\omega$):</a:t>
            </a:r>
          </a:p>
          <a:p>
            <a:pPr>
              <a:buFont typeface="+mj-lt"/>
              <a:buAutoNum type="arabicPeriod"/>
            </a:pPr>
            <a:r>
              <a:rPr lang="en-US" b="1" dirty="0">
                <a:effectLst/>
                <a:latin typeface="Google Sans Text"/>
              </a:rPr>
              <a:t>Advection:</a:t>
            </a:r>
            <a:r>
              <a:rPr lang="en-US" dirty="0">
                <a:effectLst/>
                <a:latin typeface="Google Sans Text"/>
              </a:rPr>
              <a:t> The fluid's own velocity vectors (u and v) physically push and drag the rotational swirl profiles sideways across the grid points.</a:t>
            </a:r>
          </a:p>
          <a:p>
            <a:pPr>
              <a:buFont typeface="+mj-lt"/>
              <a:buAutoNum type="arabicPeriod"/>
            </a:pPr>
            <a:r>
              <a:rPr lang="en-US" b="1" dirty="0">
                <a:effectLst/>
                <a:latin typeface="Google Sans Text"/>
              </a:rPr>
              <a:t>Diffusion:</a:t>
            </a:r>
            <a:r>
              <a:rPr lang="en-US" dirty="0">
                <a:effectLst/>
                <a:latin typeface="Google Sans Text"/>
              </a:rPr>
              <a:t> The internal molecular friction of the liquid (the fluid thickness, mapped by KINEMATIC_VISCOSITY) naturally smooths out sharp velocity differences over time.</a:t>
            </a:r>
          </a:p>
          <a:p>
            <a:r>
              <a:rPr lang="en-US" dirty="0">
                <a:effectLst/>
                <a:latin typeface="Google Sans Text"/>
              </a:rPr>
              <a:t>Subtask 3.1 utilizes the mathematical spatial gradients built in 1.1 to move the fluid grid forward by a tiny fraction of time (TIME_STEP_LENGTH).</a:t>
            </a:r>
          </a:p>
          <a:p>
            <a:endParaRPr lang="en-US" dirty="0"/>
          </a:p>
          <a:p>
            <a:r>
              <a:rPr lang="en-US" dirty="0">
                <a:effectLst/>
                <a:latin typeface="Google Sans Text"/>
              </a:rPr>
              <a:t>Once Subtask 3.1 calculates how much the fluid is swirling around at the new time step, the model must figure out how the physical speed maps onto streamline curves ($\psi$). Mathematically, this requires solving an elliptic differential rule known as the </a:t>
            </a:r>
            <a:r>
              <a:rPr lang="en-US" b="1" dirty="0">
                <a:effectLst/>
                <a:latin typeface="Google Sans Text"/>
              </a:rPr>
              <a:t>Poisson equation</a:t>
            </a:r>
            <a:r>
              <a:rPr lang="en-US" dirty="0">
                <a:effectLst/>
                <a:latin typeface="Google Sans Text"/>
              </a:rPr>
              <a:t> ($\nabla^2\psi = -\omega$).</a:t>
            </a:r>
          </a:p>
          <a:p>
            <a:r>
              <a:rPr lang="en-US" dirty="0">
                <a:effectLst/>
                <a:latin typeface="Google Sans Text"/>
              </a:rPr>
              <a:t>Because computers cannot resolve these multi-directional dependency grids instantly, you use a </a:t>
            </a:r>
            <a:r>
              <a:rPr lang="en-US" b="1" dirty="0">
                <a:effectLst/>
                <a:latin typeface="Google Sans Text"/>
              </a:rPr>
              <a:t>relaxation scheme</a:t>
            </a:r>
            <a:r>
              <a:rPr lang="en-US" dirty="0">
                <a:effectLst/>
                <a:latin typeface="Google Sans Text"/>
              </a:rPr>
              <a:t>. The code takes the previous state as a starting point, guesses the new balance values, evaluates the errors against neighbor arrays, and repeats this update process 50 times per step to "relax" into a stable stream field.</a:t>
            </a:r>
          </a:p>
          <a:p>
            <a:endParaRPr lang="en-US" dirty="0"/>
          </a:p>
          <a:p>
            <a:r>
              <a:rPr lang="en-US" dirty="0"/>
              <a:t>When you solve fluid dynamics equations iteratively, you need a way to verify that your answers are actually approaching a correct physical state rather than exploding into random numbers (a common issue in fluid codes).</a:t>
            </a:r>
          </a:p>
          <a:p>
            <a:r>
              <a:rPr lang="en-US" dirty="0"/>
              <a:t>Subtask 3.3 is about tracking </a:t>
            </a:r>
            <a:r>
              <a:rPr lang="en-US" b="1" dirty="0"/>
              <a:t>residuals</a:t>
            </a:r>
            <a:r>
              <a:rPr lang="en-US" dirty="0"/>
              <a:t>—which are the calculated differences between the current fluid state and the previous step's fluid state. By storing these errors in a list and plotting them on a logarithmic scale, you prove to your instructor that the system stabilized (converged) and reached a valid steady-state solution.</a:t>
            </a:r>
          </a:p>
          <a:p>
            <a:endParaRPr lang="en-US" dirty="0"/>
          </a:p>
        </p:txBody>
      </p:sp>
      <p:sp>
        <p:nvSpPr>
          <p:cNvPr id="4" name="Slide Number Placeholder 3"/>
          <p:cNvSpPr>
            <a:spLocks noGrp="1"/>
          </p:cNvSpPr>
          <p:nvPr>
            <p:ph type="sldNum" sz="quarter" idx="5"/>
          </p:nvPr>
        </p:nvSpPr>
        <p:spPr/>
        <p:txBody>
          <a:bodyPr/>
          <a:lstStyle/>
          <a:p>
            <a:fld id="{029D3D77-4AE1-4A9F-B764-8C1063FEDE9D}" type="slidenum">
              <a:rPr lang="en-US" smtClean="0"/>
              <a:t>5</a:t>
            </a:fld>
            <a:endParaRPr lang="en-US"/>
          </a:p>
        </p:txBody>
      </p:sp>
    </p:spTree>
    <p:extLst>
      <p:ext uri="{BB962C8B-B14F-4D97-AF65-F5344CB8AC3E}">
        <p14:creationId xmlns:p14="http://schemas.microsoft.com/office/powerpoint/2010/main" val="20964550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latin typeface="Google Sans Text"/>
              </a:rPr>
              <a:t>Up until this point, the solver loop has just been crunching a bunch of numbers in separate matrix grids (a 2D matrix for horizontal speeds $u$, and a 2D matrix for vertical speeds $v$).</a:t>
            </a:r>
          </a:p>
          <a:p>
            <a:r>
              <a:rPr lang="en-US" dirty="0">
                <a:effectLst/>
                <a:latin typeface="Google Sans Text"/>
              </a:rPr>
              <a:t>Subtask 4.1 is where you </a:t>
            </a:r>
            <a:r>
              <a:rPr lang="en-US" b="1" dirty="0">
                <a:effectLst/>
                <a:latin typeface="Google Sans Text"/>
              </a:rPr>
              <a:t>extract</a:t>
            </a:r>
            <a:r>
              <a:rPr lang="en-US" dirty="0">
                <a:effectLst/>
                <a:latin typeface="Google Sans Text"/>
              </a:rPr>
              <a:t> those independent speed arrays, combine them to find the true overall magnitude (speed) at any given coordinate, apply your obstacle mask so lines don't get drawn inside the solid box, and use a numerical tracer algorithm (</a:t>
            </a:r>
            <a:r>
              <a:rPr lang="en-US" dirty="0" err="1">
                <a:effectLst/>
                <a:latin typeface="Google Sans Text"/>
              </a:rPr>
              <a:t>plt.streamplot</a:t>
            </a:r>
            <a:r>
              <a:rPr lang="en-US" dirty="0">
                <a:effectLst/>
                <a:latin typeface="Google Sans Text"/>
              </a:rPr>
              <a:t>) to trace continuous fluid pathways (streamlines) around the obstacle.</a:t>
            </a:r>
          </a:p>
          <a:p>
            <a:endParaRPr lang="en-US" dirty="0"/>
          </a:p>
          <a:p>
            <a:r>
              <a:rPr lang="en-US" dirty="0"/>
              <a:t>Before throwing an animation onto a screen, a computational physics model needs a configured canvas wrapper. Subtask 4.2 focuses on generating a high-fidelity snapshot setup that visualizes magnitude distributions (like velocity speed or pressure variations) across the spatial geometry.</a:t>
            </a:r>
          </a:p>
          <a:p>
            <a:r>
              <a:rPr lang="en-US" dirty="0"/>
              <a:t>By applying an image mapping function (</a:t>
            </a:r>
            <a:r>
              <a:rPr lang="en-US" dirty="0" err="1"/>
              <a:t>imshow</a:t>
            </a:r>
            <a:r>
              <a:rPr lang="en-US" dirty="0"/>
              <a:t>) along with a customized bounding box shape (</a:t>
            </a:r>
            <a:r>
              <a:rPr lang="en-US" dirty="0" err="1"/>
              <a:t>patches.Rectangle</a:t>
            </a:r>
            <a:r>
              <a:rPr lang="en-US" dirty="0"/>
              <a:t>), this step creates a standardized backdrop where a color gradient scale map (from slow blue to rapid red) visually isolates the physical placement and impact of the central obstacle.</a:t>
            </a:r>
          </a:p>
          <a:p>
            <a:endParaRPr lang="en-US" dirty="0"/>
          </a:p>
        </p:txBody>
      </p:sp>
      <p:sp>
        <p:nvSpPr>
          <p:cNvPr id="4" name="Slide Number Placeholder 3"/>
          <p:cNvSpPr>
            <a:spLocks noGrp="1"/>
          </p:cNvSpPr>
          <p:nvPr>
            <p:ph type="sldNum" sz="quarter" idx="5"/>
          </p:nvPr>
        </p:nvSpPr>
        <p:spPr/>
        <p:txBody>
          <a:bodyPr/>
          <a:lstStyle/>
          <a:p>
            <a:fld id="{029D3D77-4AE1-4A9F-B764-8C1063FEDE9D}" type="slidenum">
              <a:rPr lang="en-US" smtClean="0"/>
              <a:t>6</a:t>
            </a:fld>
            <a:endParaRPr lang="en-US"/>
          </a:p>
        </p:txBody>
      </p:sp>
    </p:spTree>
    <p:extLst>
      <p:ext uri="{BB962C8B-B14F-4D97-AF65-F5344CB8AC3E}">
        <p14:creationId xmlns:p14="http://schemas.microsoft.com/office/powerpoint/2010/main" val="19755360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static picture only shows fluid patterns at one fixed point in time (like the final steady state). However, fluid physics are deeply temporal: when the top lid suddenly starts sliding, waves and vortices slowly crop up, warp around the obstacle, and change shape before settling down.</a:t>
            </a:r>
          </a:p>
          <a:p>
            <a:r>
              <a:rPr lang="en-US" dirty="0"/>
              <a:t>Subtask 4.3 is about taking your historic frames list variable, building an automated update engine (def update(</a:t>
            </a:r>
            <a:r>
              <a:rPr lang="en-US" dirty="0" err="1"/>
              <a:t>i</a:t>
            </a:r>
            <a:r>
              <a:rPr lang="en-US" dirty="0"/>
              <a:t>):), and passing it into a compiler that automatically strings those individual array snapshots into an interactive web-based animation movie (HTML(</a:t>
            </a:r>
            <a:r>
              <a:rPr lang="en-US" dirty="0" err="1"/>
              <a:t>ani.to_jshtml</a:t>
            </a:r>
            <a:r>
              <a:rPr lang="en-US" dirty="0"/>
              <a:t>())).</a:t>
            </a:r>
          </a:p>
          <a:p>
            <a:endParaRPr lang="en-US" dirty="0"/>
          </a:p>
        </p:txBody>
      </p:sp>
      <p:sp>
        <p:nvSpPr>
          <p:cNvPr id="4" name="Slide Number Placeholder 3"/>
          <p:cNvSpPr>
            <a:spLocks noGrp="1"/>
          </p:cNvSpPr>
          <p:nvPr>
            <p:ph type="sldNum" sz="quarter" idx="5"/>
          </p:nvPr>
        </p:nvSpPr>
        <p:spPr/>
        <p:txBody>
          <a:bodyPr/>
          <a:lstStyle/>
          <a:p>
            <a:fld id="{029D3D77-4AE1-4A9F-B764-8C1063FEDE9D}" type="slidenum">
              <a:rPr lang="en-US" smtClean="0"/>
              <a:t>7</a:t>
            </a:fld>
            <a:endParaRPr lang="en-US"/>
          </a:p>
        </p:txBody>
      </p:sp>
    </p:spTree>
    <p:extLst>
      <p:ext uri="{BB962C8B-B14F-4D97-AF65-F5344CB8AC3E}">
        <p14:creationId xmlns:p14="http://schemas.microsoft.com/office/powerpoint/2010/main" val="1310090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3555898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21311989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19895227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DD862A3-4AE1-478D-9E0B-FFA75BF76DFC}"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2879044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DD862A3-4AE1-478D-9E0B-FFA75BF76DFC}" type="datetimeFigureOut">
              <a:rPr lang="en-US" smtClean="0"/>
              <a:t>5/21/2026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3630904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2603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7019295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3154870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D862A3-4AE1-478D-9E0B-FFA75BF76DFC}"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1310608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D862A3-4AE1-478D-9E0B-FFA75BF76DFC}"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36476707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37732465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73B8338-13C4-4FC8-95F5-22F6B45F25BB}"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5066891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18231046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ADD862A3-4AE1-478D-9E0B-FFA75BF76DFC}" type="datetimeFigureOut">
              <a:rPr lang="en-US" smtClean="0"/>
              <a:t>5/21/2026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16857576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ADD862A3-4AE1-478D-9E0B-FFA75BF76DFC}" type="datetimeFigureOut">
              <a:rPr lang="en-US" smtClean="0"/>
              <a:t>5/21/2026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413488437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193886432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DD862A3-4AE1-478D-9E0B-FFA75BF76DFC}"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73B8338-13C4-4FC8-95F5-22F6B45F25BB}" type="slidenum">
              <a:rPr lang="en-US" smtClean="0"/>
              <a:t>‹#›</a:t>
            </a:fld>
            <a:endParaRPr lang="en-US"/>
          </a:p>
        </p:txBody>
      </p:sp>
    </p:spTree>
    <p:extLst>
      <p:ext uri="{BB962C8B-B14F-4D97-AF65-F5344CB8AC3E}">
        <p14:creationId xmlns:p14="http://schemas.microsoft.com/office/powerpoint/2010/main" val="20750272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ADD862A3-4AE1-478D-9E0B-FFA75BF76DFC}" type="datetimeFigureOut">
              <a:rPr lang="en-US" smtClean="0"/>
              <a:t>5/21/2026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E73B8338-13C4-4FC8-95F5-22F6B45F25BB}" type="slidenum">
              <a:rPr lang="en-US" smtClean="0"/>
              <a:t>‹#›</a:t>
            </a:fld>
            <a:endParaRPr lang="en-US"/>
          </a:p>
        </p:txBody>
      </p:sp>
    </p:spTree>
    <p:extLst>
      <p:ext uri="{BB962C8B-B14F-4D97-AF65-F5344CB8AC3E}">
        <p14:creationId xmlns:p14="http://schemas.microsoft.com/office/powerpoint/2010/main" val="2130694060"/>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F6AB-B253-213D-4CBC-F975629439B4}"/>
              </a:ext>
            </a:extLst>
          </p:cNvPr>
          <p:cNvSpPr>
            <a:spLocks noGrp="1"/>
          </p:cNvSpPr>
          <p:nvPr>
            <p:ph type="ctrTitle"/>
          </p:nvPr>
        </p:nvSpPr>
        <p:spPr/>
        <p:txBody>
          <a:bodyPr/>
          <a:lstStyle/>
          <a:p>
            <a:r>
              <a:rPr lang="en-US" dirty="0">
                <a:solidFill>
                  <a:schemeClr val="accent3"/>
                </a:solidFill>
              </a:rPr>
              <a:t>Lid-driven Cavity with obstacle</a:t>
            </a:r>
            <a:r>
              <a:rPr lang="en-US" dirty="0"/>
              <a:t>:</a:t>
            </a:r>
            <a:br>
              <a:rPr lang="en-US" dirty="0"/>
            </a:br>
            <a:r>
              <a:rPr lang="en-US" dirty="0"/>
              <a:t>Project Milestone</a:t>
            </a:r>
          </a:p>
        </p:txBody>
      </p:sp>
      <p:sp>
        <p:nvSpPr>
          <p:cNvPr id="3" name="Subtitle 2">
            <a:extLst>
              <a:ext uri="{FF2B5EF4-FFF2-40B4-BE49-F238E27FC236}">
                <a16:creationId xmlns:a16="http://schemas.microsoft.com/office/drawing/2014/main" id="{9817351F-006C-3BF2-DD44-630941DAA977}"/>
              </a:ext>
            </a:extLst>
          </p:cNvPr>
          <p:cNvSpPr>
            <a:spLocks noGrp="1"/>
          </p:cNvSpPr>
          <p:nvPr>
            <p:ph type="subTitle" idx="1"/>
          </p:nvPr>
        </p:nvSpPr>
        <p:spPr/>
        <p:txBody>
          <a:bodyPr/>
          <a:lstStyle/>
          <a:p>
            <a:r>
              <a:rPr lang="en-US" dirty="0"/>
              <a:t>Tiffany W &amp; Evelyn Jane</a:t>
            </a:r>
          </a:p>
        </p:txBody>
      </p:sp>
      <p:pic>
        <p:nvPicPr>
          <p:cNvPr id="5" name="Picture 4">
            <a:extLst>
              <a:ext uri="{FF2B5EF4-FFF2-40B4-BE49-F238E27FC236}">
                <a16:creationId xmlns:a16="http://schemas.microsoft.com/office/drawing/2014/main" id="{55F7345A-4A47-7AEC-729C-1929D1006914}"/>
              </a:ext>
            </a:extLst>
          </p:cNvPr>
          <p:cNvPicPr>
            <a:picLocks noChangeAspect="1"/>
          </p:cNvPicPr>
          <p:nvPr/>
        </p:nvPicPr>
        <p:blipFill>
          <a:blip r:embed="rId2"/>
          <a:stretch>
            <a:fillRect/>
          </a:stretch>
        </p:blipFill>
        <p:spPr>
          <a:xfrm>
            <a:off x="9122847" y="1769515"/>
            <a:ext cx="2851307" cy="3318969"/>
          </a:xfrm>
          <a:prstGeom prst="rect">
            <a:avLst/>
          </a:prstGeom>
        </p:spPr>
      </p:pic>
    </p:spTree>
    <p:extLst>
      <p:ext uri="{BB962C8B-B14F-4D97-AF65-F5344CB8AC3E}">
        <p14:creationId xmlns:p14="http://schemas.microsoft.com/office/powerpoint/2010/main" val="3366145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33F38-B3C2-E738-093B-B3B26F67E3F8}"/>
              </a:ext>
            </a:extLst>
          </p:cNvPr>
          <p:cNvSpPr>
            <a:spLocks noGrp="1"/>
          </p:cNvSpPr>
          <p:nvPr>
            <p:ph type="title"/>
          </p:nvPr>
        </p:nvSpPr>
        <p:spPr/>
        <p:txBody>
          <a:bodyPr/>
          <a:lstStyle/>
          <a:p>
            <a:r>
              <a:rPr lang="en-US" dirty="0"/>
              <a:t>Phase 1: </a:t>
            </a:r>
            <a:r>
              <a:rPr lang="en-US" dirty="0" err="1"/>
              <a:t>Mathemathical</a:t>
            </a:r>
            <a:r>
              <a:rPr lang="en-US" dirty="0"/>
              <a:t> formulation &amp; </a:t>
            </a:r>
            <a:r>
              <a:rPr lang="en-US" dirty="0" err="1"/>
              <a:t>discretetization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DE4BA5-6FA8-5C93-6EAB-AA229381A3EB}"/>
                  </a:ext>
                </a:extLst>
              </p:cNvPr>
              <p:cNvSpPr>
                <a:spLocks noGrp="1"/>
              </p:cNvSpPr>
              <p:nvPr>
                <p:ph idx="1"/>
              </p:nvPr>
            </p:nvSpPr>
            <p:spPr>
              <a:xfrm>
                <a:off x="1103313" y="2052918"/>
                <a:ext cx="6394768" cy="4195481"/>
              </a:xfrm>
            </p:spPr>
            <p:txBody>
              <a:bodyPr>
                <a:normAutofit lnSpcReduction="10000"/>
              </a:bodyPr>
              <a:lstStyle/>
              <a:p>
                <a:r>
                  <a:rPr lang="en-US" dirty="0"/>
                  <a:t>1.1 Definition of Governing Equations: Formulating the 2D Incompressible Navier-Stokes equations into the </a:t>
                </a:r>
                <a:r>
                  <a:rPr lang="en-US" dirty="0" err="1"/>
                  <a:t>Streamfunction</a:t>
                </a:r>
                <a:r>
                  <a:rPr lang="en-US" dirty="0"/>
                  <a:t>-Vorticity (</a:t>
                </a:r>
                <a:r>
                  <a:rPr lang="el-GR" dirty="0"/>
                  <a:t>Ψ</a:t>
                </a:r>
                <a:r>
                  <a:rPr lang="en-US" dirty="0"/>
                  <a:t> - </a:t>
                </a:r>
                <a:r>
                  <a:rPr lang="el-GR" dirty="0"/>
                  <a:t>ω</a:t>
                </a:r>
                <a:r>
                  <a:rPr lang="en-US" dirty="0"/>
                  <a:t>) transport system.</a:t>
                </a:r>
              </a:p>
              <a:p>
                <a:pPr lvl="1"/>
                <a:r>
                  <a:rPr lang="en-US" dirty="0"/>
                  <a:t>Status: Finished</a:t>
                </a:r>
              </a:p>
              <a:p>
                <a:pPr lvl="1"/>
                <a:r>
                  <a:rPr lang="en-US" dirty="0"/>
                  <a:t>By: Evelyn</a:t>
                </a:r>
              </a:p>
              <a:p>
                <a:r>
                  <a:rPr lang="en-US" dirty="0"/>
                  <a:t>1.2 Mesh Grid Generation: </a:t>
                </a:r>
                <a:r>
                  <a:rPr lang="en-US" dirty="0" err="1"/>
                  <a:t>Discreting</a:t>
                </a:r>
                <a:r>
                  <a:rPr lang="en-US" dirty="0"/>
                  <a:t> the continuous domain into a uniform Cartesian grid (</a:t>
                </a:r>
                <a14:m>
                  <m:oMath xmlns:m="http://schemas.openxmlformats.org/officeDocument/2006/math">
                    <m:r>
                      <a:rPr lang="en-US" i="1">
                        <a:latin typeface="Cambria Math" panose="02040503050406030204" pitchFamily="18" charset="0"/>
                      </a:rPr>
                      <m:t>𝑁𝑥</m:t>
                    </m:r>
                    <m:r>
                      <a:rPr lang="en-US" i="1">
                        <a:latin typeface="Cambria Math" panose="02040503050406030204" pitchFamily="18" charset="0"/>
                      </a:rPr>
                      <m:t>×</m:t>
                    </m:r>
                    <m:r>
                      <a:rPr lang="en-US" i="1">
                        <a:latin typeface="Cambria Math" panose="02040503050406030204" pitchFamily="18" charset="0"/>
                      </a:rPr>
                      <m:t>𝑁𝑦</m:t>
                    </m:r>
                  </m:oMath>
                </a14:m>
                <a:r>
                  <a:rPr lang="en-US" dirty="0"/>
                  <a:t>) and defining the spatial steps (dx, </a:t>
                </a:r>
                <a:r>
                  <a:rPr lang="en-US" dirty="0" err="1"/>
                  <a:t>dy</a:t>
                </a:r>
                <a:r>
                  <a:rPr lang="en-US" dirty="0"/>
                  <a:t>) and time-step (dt) based on the stability criteria.</a:t>
                </a:r>
              </a:p>
              <a:p>
                <a:pPr lvl="1"/>
                <a:r>
                  <a:rPr lang="en-US" dirty="0"/>
                  <a:t>Status: Finished</a:t>
                </a:r>
              </a:p>
              <a:p>
                <a:pPr lvl="1"/>
                <a:r>
                  <a:rPr lang="en-US" dirty="0"/>
                  <a:t>By: Evelyn</a:t>
                </a:r>
              </a:p>
            </p:txBody>
          </p:sp>
        </mc:Choice>
        <mc:Fallback xmlns="">
          <p:sp>
            <p:nvSpPr>
              <p:cNvPr id="3" name="Content Placeholder 2">
                <a:extLst>
                  <a:ext uri="{FF2B5EF4-FFF2-40B4-BE49-F238E27FC236}">
                    <a16:creationId xmlns:a16="http://schemas.microsoft.com/office/drawing/2014/main" id="{8EDE4BA5-6FA8-5C93-6EAB-AA229381A3EB}"/>
                  </a:ext>
                </a:extLst>
              </p:cNvPr>
              <p:cNvSpPr>
                <a:spLocks noGrp="1" noRot="1" noChangeAspect="1" noMove="1" noResize="1" noEditPoints="1" noAdjustHandles="1" noChangeArrowheads="1" noChangeShapeType="1" noTextEdit="1"/>
              </p:cNvSpPr>
              <p:nvPr>
                <p:ph idx="1"/>
              </p:nvPr>
            </p:nvSpPr>
            <p:spPr>
              <a:xfrm>
                <a:off x="1103313" y="2052918"/>
                <a:ext cx="6394768" cy="4195481"/>
              </a:xfrm>
              <a:blipFill>
                <a:blip r:embed="rId3"/>
                <a:stretch>
                  <a:fillRect l="-477" t="-1599" b="-2035"/>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E8CE897D-AE91-CF86-4B46-D335B7EC12CB}"/>
              </a:ext>
            </a:extLst>
          </p:cNvPr>
          <p:cNvPicPr>
            <a:picLocks noChangeAspect="1"/>
          </p:cNvPicPr>
          <p:nvPr/>
        </p:nvPicPr>
        <p:blipFill>
          <a:blip r:embed="rId4"/>
          <a:stretch>
            <a:fillRect/>
          </a:stretch>
        </p:blipFill>
        <p:spPr>
          <a:xfrm>
            <a:off x="7498081" y="4225704"/>
            <a:ext cx="3269263" cy="190516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95CF915-6D6C-3752-A9E0-90E94C4D16DE}"/>
                  </a:ext>
                </a:extLst>
              </p:cNvPr>
              <p:cNvSpPr txBox="1"/>
              <p:nvPr/>
            </p:nvSpPr>
            <p:spPr>
              <a:xfrm>
                <a:off x="6814954" y="1897903"/>
                <a:ext cx="4220154" cy="671851"/>
              </a:xfrm>
              <a:prstGeom prst="rect">
                <a:avLst/>
              </a:prstGeom>
              <a:noFill/>
            </p:spPr>
            <p:txBody>
              <a:bodyPr wrap="square">
                <a:spAutoFit/>
              </a:bodyPr>
              <a:lstStyle/>
              <a:p>
                <a:pPr lvl="1"/>
                <a14:m>
                  <m:oMathPara xmlns:m="http://schemas.openxmlformats.org/officeDocument/2006/math">
                    <m:oMathParaPr>
                      <m:jc m:val="centerGroup"/>
                    </m:oMathParaPr>
                    <m:oMath xmlns:m="http://schemas.openxmlformats.org/officeDocument/2006/math">
                      <m:f>
                        <m:fPr>
                          <m:ctrlPr>
                            <a:rPr lang="en-US" b="1" i="1" smtClean="0">
                              <a:solidFill>
                                <a:schemeClr val="tx1"/>
                              </a:solidFill>
                              <a:latin typeface="Cambria Math" panose="02040503050406030204" pitchFamily="18" charset="0"/>
                            </a:rPr>
                          </m:ctrlPr>
                        </m:fPr>
                        <m:num>
                          <m:r>
                            <m:rPr>
                              <m:nor/>
                            </m:rPr>
                            <a:rPr lang="en-US" b="1" smtClean="0">
                              <a:solidFill>
                                <a:schemeClr val="tx1"/>
                              </a:solidFill>
                            </a:rPr>
                            <m:t>∂</m:t>
                          </m:r>
                          <m:r>
                            <m:rPr>
                              <m:nor/>
                            </m:rPr>
                            <a:rPr lang="en-US" b="1" i="0" smtClean="0">
                              <a:solidFill>
                                <a:schemeClr val="tx1"/>
                              </a:solidFill>
                              <a:latin typeface="Cambria Math" panose="02040503050406030204" pitchFamily="18" charset="0"/>
                            </a:rPr>
                            <m:t>u</m:t>
                          </m:r>
                        </m:num>
                        <m:den>
                          <m:r>
                            <m:rPr>
                              <m:nor/>
                            </m:rPr>
                            <a:rPr lang="en-US" b="1" smtClean="0">
                              <a:solidFill>
                                <a:schemeClr val="tx1"/>
                              </a:solidFill>
                            </a:rPr>
                            <m:t>∂</m:t>
                          </m:r>
                          <m:r>
                            <m:rPr>
                              <m:nor/>
                            </m:rPr>
                            <a:rPr lang="en-US" b="1" i="0" smtClean="0">
                              <a:solidFill>
                                <a:schemeClr val="tx1"/>
                              </a:solidFill>
                              <a:latin typeface="Cambria Math" panose="02040503050406030204" pitchFamily="18" charset="0"/>
                            </a:rPr>
                            <m:t>t</m:t>
                          </m:r>
                        </m:den>
                      </m:f>
                      <m:r>
                        <a:rPr lang="en-US" b="1" i="1" smtClean="0">
                          <a:latin typeface="Cambria Math" panose="02040503050406030204" pitchFamily="18" charset="0"/>
                        </a:rPr>
                        <m:t>+</m:t>
                      </m:r>
                      <m:d>
                        <m:dPr>
                          <m:ctrlPr>
                            <a:rPr lang="en-US" b="1" i="1" smtClean="0">
                              <a:solidFill>
                                <a:srgbClr val="FFFF00"/>
                              </a:solidFill>
                              <a:latin typeface="Cambria Math" panose="02040503050406030204" pitchFamily="18" charset="0"/>
                            </a:rPr>
                          </m:ctrlPr>
                        </m:dPr>
                        <m:e>
                          <m:r>
                            <a:rPr lang="en-US" b="1" i="1" smtClean="0">
                              <a:solidFill>
                                <a:srgbClr val="FFFF00"/>
                              </a:solidFill>
                              <a:latin typeface="Cambria Math" panose="02040503050406030204" pitchFamily="18" charset="0"/>
                            </a:rPr>
                            <m:t>𝒖</m:t>
                          </m:r>
                          <m:r>
                            <a:rPr lang="en-US" b="1" i="1" smtClean="0">
                              <a:solidFill>
                                <a:srgbClr val="FFFF00"/>
                              </a:solidFill>
                              <a:latin typeface="Cambria Math" panose="02040503050406030204" pitchFamily="18" charset="0"/>
                              <a:ea typeface="Cambria Math" panose="02040503050406030204" pitchFamily="18" charset="0"/>
                            </a:rPr>
                            <m:t>∙</m:t>
                          </m:r>
                          <m:r>
                            <a:rPr lang="en-US" b="1" i="1" smtClean="0">
                              <a:solidFill>
                                <a:srgbClr val="FFFF00"/>
                              </a:solidFill>
                              <a:latin typeface="Cambria Math" panose="02040503050406030204" pitchFamily="18" charset="0"/>
                              <a:ea typeface="Cambria Math" panose="02040503050406030204" pitchFamily="18" charset="0"/>
                            </a:rPr>
                            <m:t>𝜵</m:t>
                          </m:r>
                        </m:e>
                      </m:d>
                      <m:r>
                        <a:rPr lang="en-US" b="1" i="1" smtClean="0">
                          <a:solidFill>
                            <a:srgbClr val="FFFF00"/>
                          </a:solidFill>
                          <a:latin typeface="Cambria Math" panose="02040503050406030204" pitchFamily="18" charset="0"/>
                          <a:ea typeface="Cambria Math" panose="02040503050406030204" pitchFamily="18" charset="0"/>
                        </a:rPr>
                        <m:t>𝒖</m:t>
                      </m:r>
                      <m:r>
                        <a:rPr lang="en-US" b="1" i="1" smtClean="0">
                          <a:latin typeface="Cambria Math" panose="02040503050406030204" pitchFamily="18" charset="0"/>
                          <a:ea typeface="Cambria Math" panose="02040503050406030204" pitchFamily="18" charset="0"/>
                        </a:rPr>
                        <m:t>=</m:t>
                      </m:r>
                      <m:r>
                        <a:rPr lang="en-US" b="1" i="1" smtClean="0">
                          <a:solidFill>
                            <a:schemeClr val="tx1"/>
                          </a:solidFill>
                          <a:latin typeface="Cambria Math" panose="02040503050406030204" pitchFamily="18" charset="0"/>
                          <a:ea typeface="Cambria Math" panose="02040503050406030204" pitchFamily="18" charset="0"/>
                        </a:rPr>
                        <m:t>−</m:t>
                      </m:r>
                      <m:f>
                        <m:fPr>
                          <m:ctrlPr>
                            <a:rPr lang="en-US" b="1" i="1" smtClean="0">
                              <a:solidFill>
                                <a:schemeClr val="tx1"/>
                              </a:solidFill>
                              <a:latin typeface="Cambria Math" panose="02040503050406030204" pitchFamily="18" charset="0"/>
                              <a:ea typeface="Cambria Math" panose="02040503050406030204" pitchFamily="18" charset="0"/>
                            </a:rPr>
                          </m:ctrlPr>
                        </m:fPr>
                        <m:num>
                          <m:r>
                            <a:rPr lang="en-US" b="1" i="1" smtClean="0">
                              <a:solidFill>
                                <a:schemeClr val="tx1"/>
                              </a:solidFill>
                              <a:latin typeface="Cambria Math" panose="02040503050406030204" pitchFamily="18" charset="0"/>
                              <a:ea typeface="Cambria Math" panose="02040503050406030204" pitchFamily="18" charset="0"/>
                            </a:rPr>
                            <m:t>𝟏</m:t>
                          </m:r>
                        </m:num>
                        <m:den>
                          <m:r>
                            <a:rPr lang="el-GR" b="1" i="1" smtClean="0">
                              <a:solidFill>
                                <a:schemeClr val="tx1"/>
                              </a:solidFill>
                              <a:latin typeface="Cambria Math" panose="02040503050406030204" pitchFamily="18" charset="0"/>
                              <a:ea typeface="Cambria Math" panose="02040503050406030204" pitchFamily="18" charset="0"/>
                            </a:rPr>
                            <m:t>𝝆</m:t>
                          </m:r>
                        </m:den>
                      </m:f>
                      <m:r>
                        <a:rPr lang="en-US" b="1" i="1" smtClean="0">
                          <a:solidFill>
                            <a:schemeClr val="tx1"/>
                          </a:solidFill>
                          <a:latin typeface="Cambria Math" panose="02040503050406030204" pitchFamily="18" charset="0"/>
                          <a:ea typeface="Cambria Math" panose="02040503050406030204" pitchFamily="18" charset="0"/>
                        </a:rPr>
                        <m:t>𝜵</m:t>
                      </m:r>
                      <m:r>
                        <a:rPr lang="en-US" b="1" i="1" smtClean="0">
                          <a:solidFill>
                            <a:schemeClr val="tx1"/>
                          </a:solidFill>
                          <a:latin typeface="Cambria Math" panose="02040503050406030204" pitchFamily="18" charset="0"/>
                          <a:ea typeface="Cambria Math" panose="02040503050406030204" pitchFamily="18" charset="0"/>
                        </a:rPr>
                        <m:t>𝒑</m:t>
                      </m:r>
                      <m:r>
                        <a:rPr lang="en-US" b="1" i="1" smtClean="0">
                          <a:latin typeface="Cambria Math" panose="02040503050406030204" pitchFamily="18" charset="0"/>
                          <a:ea typeface="Cambria Math" panose="02040503050406030204" pitchFamily="18" charset="0"/>
                        </a:rPr>
                        <m:t>+</m:t>
                      </m:r>
                      <m:r>
                        <a:rPr lang="en-US" b="1" i="1" smtClean="0">
                          <a:solidFill>
                            <a:srgbClr val="92D050"/>
                          </a:solidFill>
                          <a:latin typeface="Cambria Math" panose="02040503050406030204" pitchFamily="18" charset="0"/>
                          <a:ea typeface="Cambria Math" panose="02040503050406030204" pitchFamily="18" charset="0"/>
                        </a:rPr>
                        <m:t>𝝂</m:t>
                      </m:r>
                      <m:sSup>
                        <m:sSupPr>
                          <m:ctrlPr>
                            <a:rPr lang="en-US" b="1" i="1" smtClean="0">
                              <a:solidFill>
                                <a:srgbClr val="92D050"/>
                              </a:solidFill>
                              <a:latin typeface="Cambria Math" panose="02040503050406030204" pitchFamily="18" charset="0"/>
                              <a:ea typeface="Cambria Math" panose="02040503050406030204" pitchFamily="18" charset="0"/>
                            </a:rPr>
                          </m:ctrlPr>
                        </m:sSupPr>
                        <m:e>
                          <m:r>
                            <a:rPr lang="en-US" b="1" i="1" smtClean="0">
                              <a:solidFill>
                                <a:srgbClr val="92D050"/>
                              </a:solidFill>
                              <a:latin typeface="Cambria Math" panose="02040503050406030204" pitchFamily="18" charset="0"/>
                              <a:ea typeface="Cambria Math" panose="02040503050406030204" pitchFamily="18" charset="0"/>
                            </a:rPr>
                            <m:t>𝜵</m:t>
                          </m:r>
                        </m:e>
                        <m:sup>
                          <m:r>
                            <a:rPr lang="en-US" b="1" i="1" smtClean="0">
                              <a:solidFill>
                                <a:srgbClr val="92D050"/>
                              </a:solidFill>
                              <a:latin typeface="Cambria Math" panose="02040503050406030204" pitchFamily="18" charset="0"/>
                              <a:ea typeface="Cambria Math" panose="02040503050406030204" pitchFamily="18" charset="0"/>
                            </a:rPr>
                            <m:t>𝟐</m:t>
                          </m:r>
                        </m:sup>
                      </m:sSup>
                      <m:r>
                        <a:rPr lang="en-US" b="1" i="1" smtClean="0">
                          <a:solidFill>
                            <a:srgbClr val="92D050"/>
                          </a:solidFill>
                          <a:latin typeface="Cambria Math" panose="02040503050406030204" pitchFamily="18" charset="0"/>
                          <a:ea typeface="Cambria Math" panose="02040503050406030204" pitchFamily="18" charset="0"/>
                        </a:rPr>
                        <m:t>𝒖</m:t>
                      </m:r>
                    </m:oMath>
                  </m:oMathPara>
                </a14:m>
                <a:endParaRPr lang="en-US" b="1" dirty="0">
                  <a:solidFill>
                    <a:srgbClr val="92D050"/>
                  </a:solidFill>
                </a:endParaRPr>
              </a:p>
            </p:txBody>
          </p:sp>
        </mc:Choice>
        <mc:Fallback xmlns="">
          <p:sp>
            <p:nvSpPr>
              <p:cNvPr id="5" name="TextBox 4">
                <a:extLst>
                  <a:ext uri="{FF2B5EF4-FFF2-40B4-BE49-F238E27FC236}">
                    <a16:creationId xmlns:a16="http://schemas.microsoft.com/office/drawing/2014/main" id="{295CF915-6D6C-3752-A9E0-90E94C4D16DE}"/>
                  </a:ext>
                </a:extLst>
              </p:cNvPr>
              <p:cNvSpPr txBox="1">
                <a:spLocks noRot="1" noChangeAspect="1" noMove="1" noResize="1" noEditPoints="1" noAdjustHandles="1" noChangeArrowheads="1" noChangeShapeType="1" noTextEdit="1"/>
              </p:cNvSpPr>
              <p:nvPr/>
            </p:nvSpPr>
            <p:spPr>
              <a:xfrm>
                <a:off x="6814954" y="1897903"/>
                <a:ext cx="4220154" cy="671851"/>
              </a:xfrm>
              <a:prstGeom prst="rect">
                <a:avLst/>
              </a:prstGeom>
              <a:blipFill>
                <a:blip r:embed="rId5"/>
                <a:stretch>
                  <a:fillRect/>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E8A688C6-5663-C7D1-13AF-7AA86D86090C}"/>
              </a:ext>
            </a:extLst>
          </p:cNvPr>
          <p:cNvPicPr>
            <a:picLocks noChangeAspect="1"/>
          </p:cNvPicPr>
          <p:nvPr/>
        </p:nvPicPr>
        <p:blipFill>
          <a:blip r:embed="rId6"/>
          <a:stretch>
            <a:fillRect/>
          </a:stretch>
        </p:blipFill>
        <p:spPr>
          <a:xfrm>
            <a:off x="7355249" y="2543131"/>
            <a:ext cx="4717189" cy="35817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69EBE26-A44C-FC25-3122-C12AFB5D10C6}"/>
                  </a:ext>
                </a:extLst>
              </p:cNvPr>
              <p:cNvSpPr txBox="1"/>
              <p:nvPr/>
            </p:nvSpPr>
            <p:spPr>
              <a:xfrm>
                <a:off x="6773163" y="2913936"/>
                <a:ext cx="1687025" cy="369332"/>
              </a:xfrm>
              <a:prstGeom prst="rect">
                <a:avLst/>
              </a:prstGeom>
              <a:noFill/>
            </p:spPr>
            <p:txBody>
              <a:bodyPr wrap="square">
                <a:spAutoFit/>
              </a:bodyPr>
              <a:lstStyle/>
              <a:p>
                <a:pPr lvl="1"/>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=0</m:t>
                      </m:r>
                    </m:oMath>
                  </m:oMathPara>
                </a14:m>
                <a:endParaRPr lang="en-US" dirty="0"/>
              </a:p>
            </p:txBody>
          </p:sp>
        </mc:Choice>
        <mc:Fallback xmlns="">
          <p:sp>
            <p:nvSpPr>
              <p:cNvPr id="10" name="TextBox 9">
                <a:extLst>
                  <a:ext uri="{FF2B5EF4-FFF2-40B4-BE49-F238E27FC236}">
                    <a16:creationId xmlns:a16="http://schemas.microsoft.com/office/drawing/2014/main" id="{269EBE26-A44C-FC25-3122-C12AFB5D10C6}"/>
                  </a:ext>
                </a:extLst>
              </p:cNvPr>
              <p:cNvSpPr txBox="1">
                <a:spLocks noRot="1" noChangeAspect="1" noMove="1" noResize="1" noEditPoints="1" noAdjustHandles="1" noChangeArrowheads="1" noChangeShapeType="1" noTextEdit="1"/>
              </p:cNvSpPr>
              <p:nvPr/>
            </p:nvSpPr>
            <p:spPr>
              <a:xfrm>
                <a:off x="6773163" y="2913936"/>
                <a:ext cx="1687025" cy="369332"/>
              </a:xfrm>
              <a:prstGeom prst="rect">
                <a:avLst/>
              </a:prstGeom>
              <a:blipFill>
                <a:blip r:embed="rId7"/>
                <a:stretch>
                  <a:fillRect/>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4D7CBC04-3913-B853-2BF6-D2DF12A70AED}"/>
              </a:ext>
            </a:extLst>
          </p:cNvPr>
          <p:cNvPicPr>
            <a:picLocks noChangeAspect="1"/>
          </p:cNvPicPr>
          <p:nvPr/>
        </p:nvPicPr>
        <p:blipFill>
          <a:blip r:embed="rId8"/>
          <a:stretch>
            <a:fillRect/>
          </a:stretch>
        </p:blipFill>
        <p:spPr>
          <a:xfrm>
            <a:off x="7355249" y="3241501"/>
            <a:ext cx="4526672" cy="346740"/>
          </a:xfrm>
          <a:prstGeom prst="rect">
            <a:avLst/>
          </a:prstGeom>
        </p:spPr>
      </p:pic>
    </p:spTree>
    <p:extLst>
      <p:ext uri="{BB962C8B-B14F-4D97-AF65-F5344CB8AC3E}">
        <p14:creationId xmlns:p14="http://schemas.microsoft.com/office/powerpoint/2010/main" val="27906077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33F38-B3C2-E738-093B-B3B26F67E3F8}"/>
              </a:ext>
            </a:extLst>
          </p:cNvPr>
          <p:cNvSpPr>
            <a:spLocks noGrp="1"/>
          </p:cNvSpPr>
          <p:nvPr>
            <p:ph type="title"/>
          </p:nvPr>
        </p:nvSpPr>
        <p:spPr/>
        <p:txBody>
          <a:bodyPr/>
          <a:lstStyle/>
          <a:p>
            <a:r>
              <a:rPr lang="en-US" dirty="0"/>
              <a:t>Phase 2: Boundary conditions &amp; Obstacle masking</a:t>
            </a:r>
          </a:p>
        </p:txBody>
      </p:sp>
      <p:sp>
        <p:nvSpPr>
          <p:cNvPr id="3" name="Content Placeholder 2">
            <a:extLst>
              <a:ext uri="{FF2B5EF4-FFF2-40B4-BE49-F238E27FC236}">
                <a16:creationId xmlns:a16="http://schemas.microsoft.com/office/drawing/2014/main" id="{8EDE4BA5-6FA8-5C93-6EAB-AA229381A3EB}"/>
              </a:ext>
            </a:extLst>
          </p:cNvPr>
          <p:cNvSpPr>
            <a:spLocks noGrp="1"/>
          </p:cNvSpPr>
          <p:nvPr>
            <p:ph idx="1"/>
          </p:nvPr>
        </p:nvSpPr>
        <p:spPr>
          <a:xfrm>
            <a:off x="1103312" y="2052918"/>
            <a:ext cx="7985029" cy="4195481"/>
          </a:xfrm>
        </p:spPr>
        <p:txBody>
          <a:bodyPr>
            <a:normAutofit/>
          </a:bodyPr>
          <a:lstStyle/>
          <a:p>
            <a:r>
              <a:rPr lang="en-US" dirty="0"/>
              <a:t>2.1 Lid &amp; Moving Wall Boundary Constraints: Coding the Dirichlet and Neumann boundary conditions (e.g., no-slip conditions at the bottom/side walls and the constant velocity at the top surface.</a:t>
            </a:r>
          </a:p>
          <a:p>
            <a:pPr lvl="1"/>
            <a:r>
              <a:rPr lang="en-US" dirty="0"/>
              <a:t>Status: Finished</a:t>
            </a:r>
          </a:p>
          <a:p>
            <a:pPr lvl="1"/>
            <a:r>
              <a:rPr lang="en-US" dirty="0"/>
              <a:t>By: Tiffany</a:t>
            </a:r>
          </a:p>
          <a:p>
            <a:r>
              <a:rPr lang="en-US" dirty="0"/>
              <a:t>2.2 Solid Obstacle Masking Matrix: Designing a static </a:t>
            </a:r>
            <a:r>
              <a:rPr lang="en-US" dirty="0" err="1"/>
              <a:t>boolean</a:t>
            </a:r>
            <a:r>
              <a:rPr lang="en-US" dirty="0"/>
              <a:t>/integer mask matrix to isolate nodes falling inside the central obstacle coordinates.</a:t>
            </a:r>
          </a:p>
          <a:p>
            <a:pPr lvl="1"/>
            <a:r>
              <a:rPr lang="en-US" dirty="0"/>
              <a:t>Status: Finished</a:t>
            </a:r>
          </a:p>
          <a:p>
            <a:pPr lvl="1"/>
            <a:r>
              <a:rPr lang="en-US" dirty="0"/>
              <a:t>By: Tiffany</a:t>
            </a:r>
          </a:p>
        </p:txBody>
      </p:sp>
      <p:pic>
        <p:nvPicPr>
          <p:cNvPr id="5" name="Picture 4">
            <a:extLst>
              <a:ext uri="{FF2B5EF4-FFF2-40B4-BE49-F238E27FC236}">
                <a16:creationId xmlns:a16="http://schemas.microsoft.com/office/drawing/2014/main" id="{2F77FE90-EAE4-2FCE-5A77-B2DA2294CD94}"/>
              </a:ext>
            </a:extLst>
          </p:cNvPr>
          <p:cNvPicPr>
            <a:picLocks noChangeAspect="1"/>
          </p:cNvPicPr>
          <p:nvPr/>
        </p:nvPicPr>
        <p:blipFill>
          <a:blip r:embed="rId3"/>
          <a:stretch>
            <a:fillRect/>
          </a:stretch>
        </p:blipFill>
        <p:spPr>
          <a:xfrm>
            <a:off x="9265509" y="2052918"/>
            <a:ext cx="2831075" cy="1771804"/>
          </a:xfrm>
          <a:prstGeom prst="rect">
            <a:avLst/>
          </a:prstGeom>
        </p:spPr>
      </p:pic>
      <p:pic>
        <p:nvPicPr>
          <p:cNvPr id="7" name="Picture 6">
            <a:extLst>
              <a:ext uri="{FF2B5EF4-FFF2-40B4-BE49-F238E27FC236}">
                <a16:creationId xmlns:a16="http://schemas.microsoft.com/office/drawing/2014/main" id="{43F5257C-2A9F-2D55-4CDB-4FC8EC736ADF}"/>
              </a:ext>
            </a:extLst>
          </p:cNvPr>
          <p:cNvPicPr>
            <a:picLocks noChangeAspect="1"/>
          </p:cNvPicPr>
          <p:nvPr/>
        </p:nvPicPr>
        <p:blipFill>
          <a:blip r:embed="rId4"/>
          <a:stretch>
            <a:fillRect/>
          </a:stretch>
        </p:blipFill>
        <p:spPr>
          <a:xfrm>
            <a:off x="9265509" y="3964365"/>
            <a:ext cx="2509171" cy="2802195"/>
          </a:xfrm>
          <a:prstGeom prst="rect">
            <a:avLst/>
          </a:prstGeom>
        </p:spPr>
      </p:pic>
    </p:spTree>
    <p:extLst>
      <p:ext uri="{BB962C8B-B14F-4D97-AF65-F5344CB8AC3E}">
        <p14:creationId xmlns:p14="http://schemas.microsoft.com/office/powerpoint/2010/main" val="29603392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33F38-B3C2-E738-093B-B3B26F67E3F8}"/>
              </a:ext>
            </a:extLst>
          </p:cNvPr>
          <p:cNvSpPr>
            <a:spLocks noGrp="1"/>
          </p:cNvSpPr>
          <p:nvPr>
            <p:ph type="title"/>
          </p:nvPr>
        </p:nvSpPr>
        <p:spPr/>
        <p:txBody>
          <a:bodyPr/>
          <a:lstStyle/>
          <a:p>
            <a:r>
              <a:rPr lang="en-US" dirty="0"/>
              <a:t>Phase 2: Boundary conditions &amp; Obstacle masking</a:t>
            </a:r>
          </a:p>
        </p:txBody>
      </p:sp>
      <p:sp>
        <p:nvSpPr>
          <p:cNvPr id="3" name="Content Placeholder 2">
            <a:extLst>
              <a:ext uri="{FF2B5EF4-FFF2-40B4-BE49-F238E27FC236}">
                <a16:creationId xmlns:a16="http://schemas.microsoft.com/office/drawing/2014/main" id="{8EDE4BA5-6FA8-5C93-6EAB-AA229381A3EB}"/>
              </a:ext>
            </a:extLst>
          </p:cNvPr>
          <p:cNvSpPr>
            <a:spLocks noGrp="1"/>
          </p:cNvSpPr>
          <p:nvPr>
            <p:ph idx="1"/>
          </p:nvPr>
        </p:nvSpPr>
        <p:spPr/>
        <p:txBody>
          <a:bodyPr>
            <a:normAutofit/>
          </a:bodyPr>
          <a:lstStyle/>
          <a:p>
            <a:r>
              <a:rPr lang="en-US" dirty="0"/>
              <a:t>2.3 Obstacle No-Slip Implementation: Enforcing strict zero-velocity and zero-</a:t>
            </a:r>
            <a:r>
              <a:rPr lang="en-US" dirty="0" err="1"/>
              <a:t>streamfunction</a:t>
            </a:r>
            <a:r>
              <a:rPr lang="en-US" dirty="0"/>
              <a:t> boundaries specifically along the outer perimeter of the interior obstacle.</a:t>
            </a:r>
          </a:p>
          <a:p>
            <a:pPr lvl="1"/>
            <a:r>
              <a:rPr lang="en-US" dirty="0"/>
              <a:t>Status: Finished</a:t>
            </a:r>
          </a:p>
          <a:p>
            <a:pPr lvl="1"/>
            <a:r>
              <a:rPr lang="en-US" dirty="0"/>
              <a:t>By: Tiffany</a:t>
            </a:r>
          </a:p>
          <a:p>
            <a:endParaRPr lang="en-US" dirty="0"/>
          </a:p>
        </p:txBody>
      </p:sp>
      <p:pic>
        <p:nvPicPr>
          <p:cNvPr id="5" name="Picture 4">
            <a:extLst>
              <a:ext uri="{FF2B5EF4-FFF2-40B4-BE49-F238E27FC236}">
                <a16:creationId xmlns:a16="http://schemas.microsoft.com/office/drawing/2014/main" id="{90E044CF-4A66-8409-2FD4-996E2825AD30}"/>
              </a:ext>
            </a:extLst>
          </p:cNvPr>
          <p:cNvPicPr>
            <a:picLocks noChangeAspect="1"/>
          </p:cNvPicPr>
          <p:nvPr/>
        </p:nvPicPr>
        <p:blipFill>
          <a:blip r:embed="rId3"/>
          <a:stretch>
            <a:fillRect/>
          </a:stretch>
        </p:blipFill>
        <p:spPr>
          <a:xfrm>
            <a:off x="9768573" y="2052918"/>
            <a:ext cx="2339543" cy="2636748"/>
          </a:xfrm>
          <a:prstGeom prst="rect">
            <a:avLst/>
          </a:prstGeom>
        </p:spPr>
      </p:pic>
    </p:spTree>
    <p:extLst>
      <p:ext uri="{BB962C8B-B14F-4D97-AF65-F5344CB8AC3E}">
        <p14:creationId xmlns:p14="http://schemas.microsoft.com/office/powerpoint/2010/main" val="10613492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33F38-B3C2-E738-093B-B3B26F67E3F8}"/>
              </a:ext>
            </a:extLst>
          </p:cNvPr>
          <p:cNvSpPr>
            <a:spLocks noGrp="1"/>
          </p:cNvSpPr>
          <p:nvPr>
            <p:ph type="title"/>
          </p:nvPr>
        </p:nvSpPr>
        <p:spPr/>
        <p:txBody>
          <a:bodyPr/>
          <a:lstStyle/>
          <a:p>
            <a:r>
              <a:rPr lang="en-US" dirty="0"/>
              <a:t>Phase 3: Solver Engine &amp; Iterative Loops</a:t>
            </a:r>
          </a:p>
        </p:txBody>
      </p:sp>
      <p:sp>
        <p:nvSpPr>
          <p:cNvPr id="3" name="Content Placeholder 2">
            <a:extLst>
              <a:ext uri="{FF2B5EF4-FFF2-40B4-BE49-F238E27FC236}">
                <a16:creationId xmlns:a16="http://schemas.microsoft.com/office/drawing/2014/main" id="{8EDE4BA5-6FA8-5C93-6EAB-AA229381A3EB}"/>
              </a:ext>
            </a:extLst>
          </p:cNvPr>
          <p:cNvSpPr>
            <a:spLocks noGrp="1"/>
          </p:cNvSpPr>
          <p:nvPr>
            <p:ph idx="1"/>
          </p:nvPr>
        </p:nvSpPr>
        <p:spPr/>
        <p:txBody>
          <a:bodyPr>
            <a:normAutofit fontScale="85000" lnSpcReduction="10000"/>
          </a:bodyPr>
          <a:lstStyle/>
          <a:p>
            <a:r>
              <a:rPr lang="en-US" dirty="0"/>
              <a:t>3.1 Vorticity Transport Step: Implementing a Finite Difference Method (FDM) scheme to explicitly </a:t>
            </a:r>
            <a:r>
              <a:rPr lang="en-US" dirty="0" err="1"/>
              <a:t>advect</a:t>
            </a:r>
            <a:r>
              <a:rPr lang="en-US" dirty="0"/>
              <a:t> and diffuse vorticity at each time step.</a:t>
            </a:r>
          </a:p>
          <a:p>
            <a:pPr lvl="1"/>
            <a:r>
              <a:rPr lang="en-US" dirty="0"/>
              <a:t>Status: Finished</a:t>
            </a:r>
          </a:p>
          <a:p>
            <a:pPr lvl="1"/>
            <a:r>
              <a:rPr lang="en-US" dirty="0"/>
              <a:t>By: Tiffany</a:t>
            </a:r>
          </a:p>
          <a:p>
            <a:r>
              <a:rPr lang="en-US" dirty="0"/>
              <a:t>3.2 Poisson Solver for </a:t>
            </a:r>
            <a:r>
              <a:rPr lang="en-US" dirty="0" err="1"/>
              <a:t>Streamfunction</a:t>
            </a:r>
            <a:r>
              <a:rPr lang="en-US" dirty="0"/>
              <a:t>: Setting up an iterative relaxation solver to compute the </a:t>
            </a:r>
            <a:r>
              <a:rPr lang="en-US" dirty="0" err="1"/>
              <a:t>streamfunction</a:t>
            </a:r>
            <a:r>
              <a:rPr lang="en-US" dirty="0"/>
              <a:t> </a:t>
            </a:r>
            <a:r>
              <a:rPr lang="el-GR" dirty="0"/>
              <a:t>Ψ</a:t>
            </a:r>
            <a:r>
              <a:rPr lang="en-US" dirty="0"/>
              <a:t> from the new vorticity field.</a:t>
            </a:r>
          </a:p>
          <a:p>
            <a:pPr lvl="1"/>
            <a:r>
              <a:rPr lang="en-US" dirty="0"/>
              <a:t>Status: Finished</a:t>
            </a:r>
          </a:p>
          <a:p>
            <a:pPr lvl="1"/>
            <a:r>
              <a:rPr lang="en-US" dirty="0"/>
              <a:t>By: Tiffany</a:t>
            </a:r>
          </a:p>
          <a:p>
            <a:r>
              <a:rPr lang="en-US" dirty="0"/>
              <a:t>3.3 Residual Tracking &amp; Convergence: Setting up an error metric tracker (</a:t>
            </a:r>
            <a:r>
              <a:rPr lang="en-US" dirty="0" err="1"/>
              <a:t>errors.append</a:t>
            </a:r>
            <a:r>
              <a:rPr lang="en-US" dirty="0"/>
              <a:t>()) monitored on a logarithmic scale to guarantee convergence limits are met before exiting loops.</a:t>
            </a:r>
          </a:p>
          <a:p>
            <a:pPr lvl="1"/>
            <a:r>
              <a:rPr lang="en-US" dirty="0"/>
              <a:t>Status: Finished</a:t>
            </a:r>
          </a:p>
          <a:p>
            <a:pPr lvl="1"/>
            <a:r>
              <a:rPr lang="en-US" dirty="0"/>
              <a:t>By: Tiffany</a:t>
            </a:r>
          </a:p>
          <a:p>
            <a:endParaRPr lang="en-US" dirty="0"/>
          </a:p>
          <a:p>
            <a:endParaRPr lang="en-US" dirty="0"/>
          </a:p>
        </p:txBody>
      </p:sp>
      <p:pic>
        <p:nvPicPr>
          <p:cNvPr id="5" name="Picture 4">
            <a:extLst>
              <a:ext uri="{FF2B5EF4-FFF2-40B4-BE49-F238E27FC236}">
                <a16:creationId xmlns:a16="http://schemas.microsoft.com/office/drawing/2014/main" id="{DC55C709-91A2-235F-A1F1-F8D6F433A841}"/>
              </a:ext>
            </a:extLst>
          </p:cNvPr>
          <p:cNvPicPr>
            <a:picLocks noChangeAspect="1"/>
          </p:cNvPicPr>
          <p:nvPr/>
        </p:nvPicPr>
        <p:blipFill>
          <a:blip r:embed="rId3"/>
          <a:stretch>
            <a:fillRect/>
          </a:stretch>
        </p:blipFill>
        <p:spPr>
          <a:xfrm>
            <a:off x="9822261" y="367465"/>
            <a:ext cx="2216278" cy="2590717"/>
          </a:xfrm>
          <a:prstGeom prst="rect">
            <a:avLst/>
          </a:prstGeom>
        </p:spPr>
      </p:pic>
      <p:pic>
        <p:nvPicPr>
          <p:cNvPr id="7" name="Picture 6">
            <a:extLst>
              <a:ext uri="{FF2B5EF4-FFF2-40B4-BE49-F238E27FC236}">
                <a16:creationId xmlns:a16="http://schemas.microsoft.com/office/drawing/2014/main" id="{347C3F2A-BC69-9556-9585-4689B0604362}"/>
              </a:ext>
            </a:extLst>
          </p:cNvPr>
          <p:cNvPicPr>
            <a:picLocks noChangeAspect="1"/>
          </p:cNvPicPr>
          <p:nvPr/>
        </p:nvPicPr>
        <p:blipFill>
          <a:blip r:embed="rId4"/>
          <a:stretch>
            <a:fillRect/>
          </a:stretch>
        </p:blipFill>
        <p:spPr>
          <a:xfrm>
            <a:off x="9841997" y="3157853"/>
            <a:ext cx="2105289" cy="1732200"/>
          </a:xfrm>
          <a:prstGeom prst="rect">
            <a:avLst/>
          </a:prstGeom>
        </p:spPr>
      </p:pic>
      <p:pic>
        <p:nvPicPr>
          <p:cNvPr id="9" name="Picture 8">
            <a:extLst>
              <a:ext uri="{FF2B5EF4-FFF2-40B4-BE49-F238E27FC236}">
                <a16:creationId xmlns:a16="http://schemas.microsoft.com/office/drawing/2014/main" id="{C60A781A-77E1-17FC-5D5D-C1FE80DC9C2E}"/>
              </a:ext>
            </a:extLst>
          </p:cNvPr>
          <p:cNvPicPr>
            <a:picLocks noChangeAspect="1"/>
          </p:cNvPicPr>
          <p:nvPr/>
        </p:nvPicPr>
        <p:blipFill>
          <a:blip r:embed="rId5"/>
          <a:stretch>
            <a:fillRect/>
          </a:stretch>
        </p:blipFill>
        <p:spPr>
          <a:xfrm>
            <a:off x="5489511" y="5116622"/>
            <a:ext cx="2627426" cy="1741378"/>
          </a:xfrm>
          <a:prstGeom prst="rect">
            <a:avLst/>
          </a:prstGeom>
        </p:spPr>
      </p:pic>
      <p:pic>
        <p:nvPicPr>
          <p:cNvPr id="6" name="Picture 5">
            <a:extLst>
              <a:ext uri="{FF2B5EF4-FFF2-40B4-BE49-F238E27FC236}">
                <a16:creationId xmlns:a16="http://schemas.microsoft.com/office/drawing/2014/main" id="{71B6E864-8693-E1A4-F817-713AE477D1F4}"/>
              </a:ext>
            </a:extLst>
          </p:cNvPr>
          <p:cNvPicPr>
            <a:picLocks noChangeAspect="1"/>
          </p:cNvPicPr>
          <p:nvPr/>
        </p:nvPicPr>
        <p:blipFill>
          <a:blip r:embed="rId6"/>
          <a:stretch>
            <a:fillRect/>
          </a:stretch>
        </p:blipFill>
        <p:spPr>
          <a:xfrm>
            <a:off x="8258389" y="5116622"/>
            <a:ext cx="1888652" cy="1146027"/>
          </a:xfrm>
          <a:prstGeom prst="rect">
            <a:avLst/>
          </a:prstGeom>
        </p:spPr>
      </p:pic>
    </p:spTree>
    <p:extLst>
      <p:ext uri="{BB962C8B-B14F-4D97-AF65-F5344CB8AC3E}">
        <p14:creationId xmlns:p14="http://schemas.microsoft.com/office/powerpoint/2010/main" val="14088016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33F38-B3C2-E738-093B-B3B26F67E3F8}"/>
              </a:ext>
            </a:extLst>
          </p:cNvPr>
          <p:cNvSpPr>
            <a:spLocks noGrp="1"/>
          </p:cNvSpPr>
          <p:nvPr>
            <p:ph type="title"/>
          </p:nvPr>
        </p:nvSpPr>
        <p:spPr/>
        <p:txBody>
          <a:bodyPr/>
          <a:lstStyle/>
          <a:p>
            <a:r>
              <a:rPr lang="en-US" dirty="0"/>
              <a:t>Phase 4: Post-Processing &amp; Visualization</a:t>
            </a:r>
          </a:p>
        </p:txBody>
      </p:sp>
      <p:sp>
        <p:nvSpPr>
          <p:cNvPr id="3" name="Content Placeholder 2">
            <a:extLst>
              <a:ext uri="{FF2B5EF4-FFF2-40B4-BE49-F238E27FC236}">
                <a16:creationId xmlns:a16="http://schemas.microsoft.com/office/drawing/2014/main" id="{8EDE4BA5-6FA8-5C93-6EAB-AA229381A3EB}"/>
              </a:ext>
            </a:extLst>
          </p:cNvPr>
          <p:cNvSpPr>
            <a:spLocks noGrp="1"/>
          </p:cNvSpPr>
          <p:nvPr>
            <p:ph idx="1"/>
          </p:nvPr>
        </p:nvSpPr>
        <p:spPr/>
        <p:txBody>
          <a:bodyPr>
            <a:normAutofit/>
          </a:bodyPr>
          <a:lstStyle/>
          <a:p>
            <a:r>
              <a:rPr lang="en-US" dirty="0"/>
              <a:t>4.1 Vector Field &amp; Streamline Extraction: Reconstructing horizontal (u) and vertical (v) components from the </a:t>
            </a:r>
            <a:r>
              <a:rPr lang="en-US" dirty="0" err="1"/>
              <a:t>streamfunction</a:t>
            </a:r>
            <a:r>
              <a:rPr lang="en-US" dirty="0"/>
              <a:t> to generate velocity vector fields.</a:t>
            </a:r>
          </a:p>
          <a:p>
            <a:pPr lvl="1"/>
            <a:r>
              <a:rPr lang="en-US" dirty="0"/>
              <a:t>Status: Finished</a:t>
            </a:r>
          </a:p>
          <a:p>
            <a:pPr lvl="1"/>
            <a:r>
              <a:rPr lang="en-US" dirty="0"/>
              <a:t>By: Evelyn</a:t>
            </a:r>
          </a:p>
          <a:p>
            <a:r>
              <a:rPr lang="en-US" dirty="0"/>
              <a:t>4.2 Static Field Contour Plotting: Utilizing Matplotlib to draw contour maps for both the pressure/streamline profiles and the high-vorticity zones forming around the sharp corners of the obstacle.</a:t>
            </a:r>
          </a:p>
          <a:p>
            <a:pPr lvl="1"/>
            <a:r>
              <a:rPr lang="en-US" dirty="0"/>
              <a:t>Status: Finished</a:t>
            </a:r>
          </a:p>
          <a:p>
            <a:pPr lvl="1"/>
            <a:r>
              <a:rPr lang="en-US" dirty="0"/>
              <a:t>By: Evelyn</a:t>
            </a:r>
          </a:p>
          <a:p>
            <a:pPr lvl="1"/>
            <a:endParaRPr lang="en-US" dirty="0"/>
          </a:p>
        </p:txBody>
      </p:sp>
      <p:pic>
        <p:nvPicPr>
          <p:cNvPr id="5" name="Picture 4">
            <a:extLst>
              <a:ext uri="{FF2B5EF4-FFF2-40B4-BE49-F238E27FC236}">
                <a16:creationId xmlns:a16="http://schemas.microsoft.com/office/drawing/2014/main" id="{E1150DF5-CB2E-ECE4-3241-43877527C74A}"/>
              </a:ext>
            </a:extLst>
          </p:cNvPr>
          <p:cNvPicPr>
            <a:picLocks noChangeAspect="1"/>
          </p:cNvPicPr>
          <p:nvPr/>
        </p:nvPicPr>
        <p:blipFill>
          <a:blip r:embed="rId3"/>
          <a:stretch>
            <a:fillRect/>
          </a:stretch>
        </p:blipFill>
        <p:spPr>
          <a:xfrm>
            <a:off x="9716906" y="116620"/>
            <a:ext cx="2301397" cy="3077661"/>
          </a:xfrm>
          <a:prstGeom prst="rect">
            <a:avLst/>
          </a:prstGeom>
        </p:spPr>
      </p:pic>
      <p:pic>
        <p:nvPicPr>
          <p:cNvPr id="7" name="Picture 6">
            <a:extLst>
              <a:ext uri="{FF2B5EF4-FFF2-40B4-BE49-F238E27FC236}">
                <a16:creationId xmlns:a16="http://schemas.microsoft.com/office/drawing/2014/main" id="{AC6EFC72-DD4F-78F9-0357-2B43CC169183}"/>
              </a:ext>
            </a:extLst>
          </p:cNvPr>
          <p:cNvPicPr>
            <a:picLocks noChangeAspect="1"/>
          </p:cNvPicPr>
          <p:nvPr/>
        </p:nvPicPr>
        <p:blipFill>
          <a:blip r:embed="rId4"/>
          <a:stretch>
            <a:fillRect/>
          </a:stretch>
        </p:blipFill>
        <p:spPr>
          <a:xfrm>
            <a:off x="10049853" y="3323645"/>
            <a:ext cx="1793418" cy="3483935"/>
          </a:xfrm>
          <a:prstGeom prst="rect">
            <a:avLst/>
          </a:prstGeom>
        </p:spPr>
      </p:pic>
    </p:spTree>
    <p:extLst>
      <p:ext uri="{BB962C8B-B14F-4D97-AF65-F5344CB8AC3E}">
        <p14:creationId xmlns:p14="http://schemas.microsoft.com/office/powerpoint/2010/main" val="26634354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33F38-B3C2-E738-093B-B3B26F67E3F8}"/>
              </a:ext>
            </a:extLst>
          </p:cNvPr>
          <p:cNvSpPr>
            <a:spLocks noGrp="1"/>
          </p:cNvSpPr>
          <p:nvPr>
            <p:ph type="title"/>
          </p:nvPr>
        </p:nvSpPr>
        <p:spPr/>
        <p:txBody>
          <a:bodyPr/>
          <a:lstStyle/>
          <a:p>
            <a:r>
              <a:rPr lang="en-US" dirty="0"/>
              <a:t>Phase 4: Post-Processing &amp; Visualization</a:t>
            </a:r>
          </a:p>
        </p:txBody>
      </p:sp>
      <p:sp>
        <p:nvSpPr>
          <p:cNvPr id="3" name="Content Placeholder 2">
            <a:extLst>
              <a:ext uri="{FF2B5EF4-FFF2-40B4-BE49-F238E27FC236}">
                <a16:creationId xmlns:a16="http://schemas.microsoft.com/office/drawing/2014/main" id="{8EDE4BA5-6FA8-5C93-6EAB-AA229381A3EB}"/>
              </a:ext>
            </a:extLst>
          </p:cNvPr>
          <p:cNvSpPr>
            <a:spLocks noGrp="1"/>
          </p:cNvSpPr>
          <p:nvPr>
            <p:ph idx="1"/>
          </p:nvPr>
        </p:nvSpPr>
        <p:spPr/>
        <p:txBody>
          <a:bodyPr>
            <a:normAutofit/>
          </a:bodyPr>
          <a:lstStyle/>
          <a:p>
            <a:r>
              <a:rPr lang="en-US" dirty="0"/>
              <a:t>4.3 Temporal Dynamic Animation: Implementing </a:t>
            </a:r>
            <a:r>
              <a:rPr lang="en-US" dirty="0" err="1"/>
              <a:t>FuncAnimation</a:t>
            </a:r>
            <a:r>
              <a:rPr lang="en-US" dirty="0"/>
              <a:t> to render an exportable video capturing the evolution of the fluid flow from its rest state to a fully developed steady state.</a:t>
            </a:r>
          </a:p>
          <a:p>
            <a:pPr lvl="1"/>
            <a:r>
              <a:rPr lang="en-US" dirty="0"/>
              <a:t>Status: Finished</a:t>
            </a:r>
          </a:p>
          <a:p>
            <a:pPr lvl="1"/>
            <a:r>
              <a:rPr lang="en-US" dirty="0"/>
              <a:t>By: Evelyn</a:t>
            </a:r>
          </a:p>
        </p:txBody>
      </p:sp>
      <p:pic>
        <p:nvPicPr>
          <p:cNvPr id="5" name="Picture 4">
            <a:extLst>
              <a:ext uri="{FF2B5EF4-FFF2-40B4-BE49-F238E27FC236}">
                <a16:creationId xmlns:a16="http://schemas.microsoft.com/office/drawing/2014/main" id="{BB0306C5-5385-E62F-ED8C-EC3EB8CB7EF6}"/>
              </a:ext>
            </a:extLst>
          </p:cNvPr>
          <p:cNvPicPr>
            <a:picLocks noChangeAspect="1"/>
          </p:cNvPicPr>
          <p:nvPr/>
        </p:nvPicPr>
        <p:blipFill>
          <a:blip r:embed="rId3"/>
          <a:stretch>
            <a:fillRect/>
          </a:stretch>
        </p:blipFill>
        <p:spPr>
          <a:xfrm>
            <a:off x="10049853" y="2052918"/>
            <a:ext cx="1855631" cy="1924217"/>
          </a:xfrm>
          <a:prstGeom prst="rect">
            <a:avLst/>
          </a:prstGeom>
        </p:spPr>
      </p:pic>
    </p:spTree>
    <p:extLst>
      <p:ext uri="{BB962C8B-B14F-4D97-AF65-F5344CB8AC3E}">
        <p14:creationId xmlns:p14="http://schemas.microsoft.com/office/powerpoint/2010/main" val="346853642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Template>
  <TotalTime>2073</TotalTime>
  <Words>1575</Words>
  <Application>Microsoft Office PowerPoint</Application>
  <PresentationFormat>Widescreen</PresentationFormat>
  <Paragraphs>81</Paragraphs>
  <Slides>7</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Arial</vt:lpstr>
      <vt:lpstr>Calibri</vt:lpstr>
      <vt:lpstr>Cambria Math</vt:lpstr>
      <vt:lpstr>Century Gothic</vt:lpstr>
      <vt:lpstr>Google Sans Text</vt:lpstr>
      <vt:lpstr>Wingdings 3</vt:lpstr>
      <vt:lpstr>Ion</vt:lpstr>
      <vt:lpstr>Lid-driven Cavity with obstacle: Project Milestone</vt:lpstr>
      <vt:lpstr>Phase 1: Mathemathical formulation &amp; discretetization</vt:lpstr>
      <vt:lpstr>Phase 2: Boundary conditions &amp; Obstacle masking</vt:lpstr>
      <vt:lpstr>Phase 2: Boundary conditions &amp; Obstacle masking</vt:lpstr>
      <vt:lpstr>Phase 3: Solver Engine &amp; Iterative Loops</vt:lpstr>
      <vt:lpstr>Phase 4: Post-Processing &amp; Visualization</vt:lpstr>
      <vt:lpstr>Phase 4: Post-Processing &amp; Visualization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Proposal</dc:title>
  <dc:creator>CTMTM</dc:creator>
  <cp:lastModifiedBy>CTMTM</cp:lastModifiedBy>
  <cp:revision>84</cp:revision>
  <dcterms:created xsi:type="dcterms:W3CDTF">2026-03-21T05:51:14Z</dcterms:created>
  <dcterms:modified xsi:type="dcterms:W3CDTF">2026-05-21T07:02:19Z</dcterms:modified>
</cp:coreProperties>
</file>