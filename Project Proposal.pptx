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4" d="100"/>
          <a:sy n="64" d="100"/>
        </p:scale>
        <p:origin x="1411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9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2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4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0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2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0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46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689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0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5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4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64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2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D862A3-4AE1-478D-9E0B-FFA75BF76DF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94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F6AB-B253-213D-4CBC-F97562943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7351F-006C-3BF2-DD44-630941DAA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Tiffany W &amp; Evelyn Jane</a:t>
            </a:r>
          </a:p>
        </p:txBody>
      </p:sp>
    </p:spTree>
    <p:extLst>
      <p:ext uri="{BB962C8B-B14F-4D97-AF65-F5344CB8AC3E}">
        <p14:creationId xmlns:p14="http://schemas.microsoft.com/office/powerpoint/2010/main" val="33661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2B13-0524-FE7A-26C1-0DBCEFE0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3FE60-EF27-C02F-8977-181E4DA2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Fluid Dynamics: </a:t>
            </a:r>
          </a:p>
          <a:p>
            <a:pPr lvl="1"/>
            <a:r>
              <a:rPr lang="en-US" dirty="0"/>
              <a:t>Simulating fluid flow around an object using Navier-Stokes equations. </a:t>
            </a:r>
          </a:p>
          <a:p>
            <a:r>
              <a:rPr lang="en-US" dirty="0"/>
              <a:t>Simulation of </a:t>
            </a:r>
            <a:r>
              <a:rPr lang="en-US" dirty="0">
                <a:solidFill>
                  <a:schemeClr val="accent3"/>
                </a:solidFill>
              </a:rPr>
              <a:t>Lid-Driven Cavity </a:t>
            </a:r>
            <a:r>
              <a:rPr lang="en-US" dirty="0"/>
              <a:t>Flow with Internal Obstacles using </a:t>
            </a:r>
            <a:r>
              <a:rPr lang="en-US" dirty="0" err="1"/>
              <a:t>Chorin’s</a:t>
            </a:r>
            <a:r>
              <a:rPr lang="en-US" dirty="0"/>
              <a:t> Projection Method.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057E0-7BC9-EBF4-2CED-A16D4CCC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228" y="3676523"/>
            <a:ext cx="3505504" cy="2933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5AF018-2C8F-1F52-80F0-F789070E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710" y="3640324"/>
            <a:ext cx="3223539" cy="30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Process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Scenario: A 2D square "cavity" filled with an incompressible fluid (like water).</a:t>
            </a:r>
          </a:p>
          <a:p>
            <a:r>
              <a:rPr lang="en-US" dirty="0"/>
              <a:t>The Driver: The </a:t>
            </a:r>
            <a:r>
              <a:rPr lang="en-US" dirty="0">
                <a:solidFill>
                  <a:schemeClr val="accent3"/>
                </a:solidFill>
              </a:rPr>
              <a:t>top boundary moves at a constant velocity</a:t>
            </a:r>
            <a:r>
              <a:rPr lang="en-US" dirty="0"/>
              <a:t>, dragging the fluid and creating a primary vortex.</a:t>
            </a:r>
          </a:p>
          <a:p>
            <a:r>
              <a:rPr lang="en-US" dirty="0"/>
              <a:t>The Complexity: We are introducing a </a:t>
            </a:r>
            <a:r>
              <a:rPr lang="en-US" dirty="0">
                <a:solidFill>
                  <a:schemeClr val="accent3"/>
                </a:solidFill>
              </a:rPr>
              <a:t>solid internal obstacle </a:t>
            </a:r>
            <a:r>
              <a:rPr lang="en-US" dirty="0"/>
              <a:t>to study how it disrupts the flow and changes the pressure distribution.</a:t>
            </a:r>
          </a:p>
          <a:p>
            <a:r>
              <a:rPr lang="en-US" dirty="0"/>
              <a:t>Application: This models real-world scenarios like coolant moving around components in an engine.</a:t>
            </a:r>
          </a:p>
        </p:txBody>
      </p:sp>
    </p:spTree>
    <p:extLst>
      <p:ext uri="{BB962C8B-B14F-4D97-AF65-F5344CB8AC3E}">
        <p14:creationId xmlns:p14="http://schemas.microsoft.com/office/powerpoint/2010/main" val="279060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C3C2-0C74-EC5A-223A-3B0B45FA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8645A-3E6E-96BF-DED0-39A4AD9D8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547446"/>
                <a:ext cx="10035286" cy="50241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Governing Equations: The motion is governed by the Incompressible Navier-Stokes Equations.</a:t>
                </a:r>
              </a:p>
              <a:p>
                <a:r>
                  <a:rPr lang="en-US" b="1" dirty="0"/>
                  <a:t>Conservation of Momentum: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smtClean="0">
                            <a:solidFill>
                              <a:schemeClr val="accent1"/>
                            </a:solidFill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smtClean="0">
                            <a:solidFill>
                              <a:schemeClr val="accent1"/>
                            </a:solidFill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𝜵</m:t>
                        </m:r>
                      </m:e>
                    </m:d>
                    <m:r>
                      <a:rPr lang="en-US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l-GR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den>
                    </m:f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𝜵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</m:oMath>
                </a14:m>
                <a:endParaRPr lang="en-US" b="1" dirty="0">
                  <a:solidFill>
                    <a:srgbClr val="92D05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mtClean="0">
                            <a:solidFill>
                              <a:schemeClr val="accent1"/>
                            </a:solidFill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mtClean="0">
                            <a:solidFill>
                              <a:schemeClr val="accent1"/>
                            </a:solidFill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How the fluid speed at a specific point changes over time.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</m:d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>
                    <a:solidFill>
                      <a:srgbClr val="FFFF00"/>
                    </a:solidFill>
                  </a:rPr>
                  <a:t> </a:t>
                </a:r>
                <a:r>
                  <a:rPr lang="en-US" dirty="0"/>
                  <a:t>Acceleration caused by the fluid moving from one position to another with a different velocity.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Pressure gradient.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>
                    <a:solidFill>
                      <a:srgbClr val="92D050"/>
                    </a:solidFill>
                  </a:rPr>
                  <a:t> </a:t>
                </a:r>
                <a:r>
                  <a:rPr lang="en-US" dirty="0"/>
                  <a:t>Diffusion (Viscosity).</a:t>
                </a:r>
              </a:p>
              <a:p>
                <a:r>
                  <a:rPr lang="en-US" b="1" dirty="0"/>
                  <a:t>Conservation of Mass (Continuity):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incompressible fluid (like water), the amount of fluid entering a space must equal the amount leaving 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8645A-3E6E-96BF-DED0-39A4AD9D8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547446"/>
                <a:ext cx="10035286" cy="5024176"/>
              </a:xfrm>
              <a:blipFill>
                <a:blip r:embed="rId2"/>
                <a:stretch>
                  <a:fillRect l="-243" t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66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4904-C95A-42B2-4247-AB34239B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&amp; Numerical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793F-95CA-976F-9360-4C05BBAA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Technique: </a:t>
            </a:r>
            <a:r>
              <a:rPr lang="en-US" dirty="0" err="1"/>
              <a:t>Chorin’s</a:t>
            </a:r>
            <a:r>
              <a:rPr lang="en-US" dirty="0"/>
              <a:t> Projection Method, a splitting scheme that separates velocity and pressure calculations.</a:t>
            </a:r>
          </a:p>
          <a:p>
            <a:r>
              <a:rPr lang="en-US" dirty="0"/>
              <a:t>Discretization: We use Finite Difference Methods on a structured grid (Mesh) to approximate derivatives.</a:t>
            </a:r>
          </a:p>
          <a:p>
            <a:r>
              <a:rPr lang="en-US" dirty="0"/>
              <a:t>Boundary Conditions: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No-Slip: Velocity is zero at all solid walls and the internal obstacle.</a:t>
            </a:r>
          </a:p>
          <a:p>
            <a:pPr lvl="1"/>
            <a:r>
              <a:rPr lang="en-US" dirty="0"/>
              <a:t>Driven Lid: Velocity is constant at the top boundary.</a:t>
            </a:r>
          </a:p>
        </p:txBody>
      </p:sp>
    </p:spTree>
    <p:extLst>
      <p:ext uri="{BB962C8B-B14F-4D97-AF65-F5344CB8AC3E}">
        <p14:creationId xmlns:p14="http://schemas.microsoft.com/office/powerpoint/2010/main" val="378596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C518-9F3C-76CA-04A1-ADC0F820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 &amp; 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01C18-0DEC-FAB5-FBAF-56C2D9CA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expect to see a large primary vortex </a:t>
            </a:r>
          </a:p>
          <a:p>
            <a:r>
              <a:rPr lang="en-US" dirty="0"/>
              <a:t>Obstacle Impact: We will analyze how the size and position of the box affect the drag and flow pattern.</a:t>
            </a:r>
          </a:p>
          <a:p>
            <a:r>
              <a:rPr lang="en-US" dirty="0"/>
              <a:t>Error Analysis: We will perform a stability check using the CFL condition to ensure our time-step (</a:t>
            </a:r>
            <a:r>
              <a:rPr lang="en-US" b="0" i="0" dirty="0">
                <a:effectLst/>
                <a:latin typeface="Google Sans"/>
              </a:rPr>
              <a:t>∆</a:t>
            </a:r>
            <a:r>
              <a:rPr lang="en-US" dirty="0"/>
              <a:t>t) is small enough to prevent the simulation from "exploding".</a:t>
            </a:r>
          </a:p>
          <a:p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Sidenote: if we change from </a:t>
            </a:r>
            <a:r>
              <a:rPr lang="en-US" i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Chorin’s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Projection Method and use Stream Function Vorticity instead, we don’t need to use </a:t>
            </a:r>
            <a:r>
              <a:rPr lang="en-US" b="0" i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Google Sans"/>
              </a:rPr>
              <a:t>∆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609590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1922</TotalTime>
  <Words>378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Cambria Math</vt:lpstr>
      <vt:lpstr>Century Gothic</vt:lpstr>
      <vt:lpstr>Google Sans</vt:lpstr>
      <vt:lpstr>Wingdings 3</vt:lpstr>
      <vt:lpstr>Ion</vt:lpstr>
      <vt:lpstr>Project Proposal</vt:lpstr>
      <vt:lpstr>Chosen topic</vt:lpstr>
      <vt:lpstr>Physical Process Description</vt:lpstr>
      <vt:lpstr>Mathematical Background</vt:lpstr>
      <vt:lpstr>Computational &amp; Numerical Techniques</vt:lpstr>
      <vt:lpstr>Expected Outcomes &amp; Error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CTMTM</dc:creator>
  <cp:lastModifiedBy>CTMTM</cp:lastModifiedBy>
  <cp:revision>21</cp:revision>
  <dcterms:created xsi:type="dcterms:W3CDTF">2026-03-21T05:51:14Z</dcterms:created>
  <dcterms:modified xsi:type="dcterms:W3CDTF">2026-04-09T07:56:16Z</dcterms:modified>
</cp:coreProperties>
</file>